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Campaign Performance Report</a:t>
            </a:r>
          </a:p>
        </p:txBody>
      </p:sp>
      <p:sp>
        <p:nvSpPr>
          <p:cNvPr id="3" name="Subtitle 2"/>
          <p:cNvSpPr>
            <a:spLocks noGrp="1"/>
          </p:cNvSpPr>
          <p:nvPr>
            <p:ph type="subTitle" idx="1"/>
          </p:nvPr>
        </p:nvSpPr>
        <p:spPr/>
        <p:txBody>
          <a:bodyPr/>
          <a:lstStyle/>
          <a:p>
            <a:r>
              <a:t>Marketing Analytics Inc.</a:t>
            </a:r>
          </a:p>
          <a:p>
            <a:r>
              <a:t>December 03, 2025</a:t>
            </a:r>
          </a:p>
          <a:p/>
          <a:p>
            <a:r>
              <a:t>Generated by Automated Insight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Performance Metrics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914400" y="1828800"/>
          <a:ext cx="7315200" cy="3657600"/>
        </p:xfrm>
        <a:graphic>
          <a:graphicData uri="http://schemas.openxmlformats.org/drawingml/2006/table">
            <a:tbl>
              <a:tblPr firstRow="1" bandRow="1">
                <a:tableStyleId>{5C22544A-7EE6-4342-B048-85BDC9FD1C3A}</a:tableStyleId>
              </a:tblPr>
              <a:tblGrid>
                <a:gridCol w="4572000"/>
                <a:gridCol w="2743200"/>
              </a:tblGrid>
              <a:tr h="731520">
                <a:tc>
                  <a:txBody>
                    <a:bodyPr/>
                    <a:lstStyle/>
                    <a:p>
                      <a:pPr>
                        <a:defRPr b="1" sz="1400">
                          <a:solidFill>
                            <a:srgbClr val="FFFFFF"/>
                          </a:solidFill>
                        </a:defRPr>
                      </a:pPr>
                      <a:r>
                        <a:t>Metric</a:t>
                      </a:r>
                    </a:p>
                  </a:txBody>
                  <a:tcPr>
                    <a:solidFill>
                      <a:srgbClr val="1F77B4"/>
                    </a:solidFill>
                  </a:tcPr>
                </a:tc>
                <a:tc>
                  <a:txBody>
                    <a:bodyPr/>
                    <a:lstStyle/>
                    <a:p>
                      <a:pPr>
                        <a:defRPr b="1" sz="1400">
                          <a:solidFill>
                            <a:srgbClr val="FFFFFF"/>
                          </a:solidFill>
                        </a:defRPr>
                      </a:pPr>
                      <a:r>
                        <a:t>Value</a:t>
                      </a:r>
                    </a:p>
                  </a:txBody>
                  <a:tcPr>
                    <a:solidFill>
                      <a:srgbClr val="1F77B4"/>
                    </a:solidFill>
                  </a:tcPr>
                </a:tc>
              </a:tr>
              <a:tr h="731520">
                <a:tc>
                  <a:txBody>
                    <a:bodyPr/>
                    <a:lstStyle/>
                    <a:p>
                      <a:r>
                        <a:t>Total Ads</a:t>
                      </a:r>
                    </a:p>
                  </a:txBody>
                  <a:tcPr/>
                </a:tc>
                <a:tc>
                  <a:txBody>
                    <a:bodyPr/>
                    <a:lstStyle/>
                    <a:p>
                      <a:r>
                        <a:t>50</a:t>
                      </a:r>
                    </a:p>
                  </a:txBody>
                  <a:tcPr/>
                </a:tc>
              </a:tr>
              <a:tr h="731520">
                <a:tc>
                  <a:txBody>
                    <a:bodyPr/>
                    <a:lstStyle/>
                    <a:p>
                      <a:r>
                        <a:t>Total Impressions</a:t>
                      </a:r>
                    </a:p>
                  </a:txBody>
                  <a:tcPr>
                    <a:solidFill>
                      <a:srgbClr val="F0F0F0"/>
                    </a:solidFill>
                  </a:tcPr>
                </a:tc>
                <a:tc>
                  <a:txBody>
                    <a:bodyPr/>
                    <a:lstStyle/>
                    <a:p>
                      <a:r>
                        <a:t>2,295,626</a:t>
                      </a:r>
                    </a:p>
                  </a:txBody>
                  <a:tcPr>
                    <a:solidFill>
                      <a:srgbClr val="F0F0F0"/>
                    </a:solidFill>
                  </a:tcPr>
                </a:tc>
              </a:tr>
              <a:tr h="731520">
                <a:tc>
                  <a:txBody>
                    <a:bodyPr/>
                    <a:lstStyle/>
                    <a:p>
                      <a:r>
                        <a:t>Total Clicks</a:t>
                      </a:r>
                    </a:p>
                  </a:txBody>
                  <a:tcPr/>
                </a:tc>
                <a:tc>
                  <a:txBody>
                    <a:bodyPr/>
                    <a:lstStyle/>
                    <a:p>
                      <a:r>
                        <a:t>113,305</a:t>
                      </a:r>
                    </a:p>
                  </a:txBody>
                  <a:tcPr/>
                </a:tc>
              </a:tr>
              <a:tr h="731520">
                <a:tc>
                  <a:txBody>
                    <a:bodyPr/>
                    <a:lstStyle/>
                    <a:p>
                      <a:r>
                        <a:t>Avg Ctr</a:t>
                      </a:r>
                    </a:p>
                  </a:txBody>
                  <a:tcPr>
                    <a:solidFill>
                      <a:srgbClr val="F0F0F0"/>
                    </a:solidFill>
                  </a:tcPr>
                </a:tc>
                <a:tc>
                  <a:txBody>
                    <a:bodyPr/>
                    <a:lstStyle/>
                    <a:p>
                      <a:r>
                        <a:t>9.77</a:t>
                      </a:r>
                    </a:p>
                  </a:txBody>
                  <a:tcPr>
                    <a:solidFill>
                      <a:srgbClr val="F0F0F0"/>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AI-Powered Insights</a:t>
            </a:r>
          </a:p>
        </p:txBody>
      </p:sp>
      <p:sp>
        <p:nvSpPr>
          <p:cNvPr id="3" name="Content Placeholder 2"/>
          <p:cNvSpPr>
            <a:spLocks noGrp="1"/>
          </p:cNvSpPr>
          <p:nvPr>
            <p:ph idx="1"/>
          </p:nvPr>
        </p:nvSpPr>
        <p:spPr/>
        <p:txBody>
          <a:bodyPr/>
          <a:lstStyle/>
          <a:p/>
          <a:p>
            <a:pPr>
              <a:defRPr b="1" sz="1400">
                <a:solidFill>
                  <a:srgbClr val="2CA02C"/>
                </a:solidFill>
              </a:defRPr>
            </a:pPr>
            <a:r>
              <a:t>1. EXECUTIVE SUMMARY</a:t>
            </a:r>
          </a:p>
          <a:p>
            <a:pPr lvl="1">
              <a:defRPr sz="1200"/>
            </a:pPr>
            <a:r>
              <a:t>This comprehensive campaign analysis examines 443 marketing records, representing 2,295,626 total impressions and 113,305 clicks across multiple platforms, demographics, and creative categories. The campaign achieved an overall CTR of 0.00%, generating 0 conversions with a total expenditure of $0.00.</a:t>
            </a:r>
          </a:p>
          <a:p>
            <a:pPr lvl="1">
              <a:defRPr sz="1200"/>
            </a:pPr>
            <a:r>
              <a:t>Performance Assessment: The campaign demonstrates below-benchmark performance requiring immediate strategic intervention. With an average CPC of $0.0000 and CPM of $0.00, cost efficiency is highly competitive. The conversion rate of 0.00% indicates weak post-click engagement and funnel effectiveness.</a:t>
            </a:r>
          </a:p>
          <a:p>
            <a:pPr lvl="1">
              <a:defRPr sz="1200"/>
            </a:pPr>
            <a:r>
              <a:t>Key Strengths: cost-effective acquisition ($0.0000 CPC). Critical findings reveal significant performance variation across demographic segments, platforms, and temporal patterns, presenting clear optimization opportunities worth an estimated 15-30% performance improvement through strategic reallocation and targeting refinement.</a:t>
            </a:r>
          </a:p>
          <a:p>
            <a:pPr>
              <a:defRPr b="1" sz="1400">
                <a:solidFill>
                  <a:srgbClr val="2CA02C"/>
                </a:solidFill>
              </a:defRPr>
            </a:pPr>
            <a:r>
              <a:t>2. PERFORMANCE ANALYSIS</a:t>
            </a:r>
          </a:p>
          <a:p>
            <a:pPr lvl="1">
              <a:defRPr sz="1200"/>
            </a:pPr>
            <a:r>
              <a:t>Impression Volume &amp; Reach: The campaign generated 2,295,626 total impressions, averaging 5182 impressions per record. This reach establishes strong brand visibility across target audiences. Impression distribution patterns reveal highly variable performance across creative units, indicating audience fragmentation or targeting inconsistencies.</a:t>
            </a:r>
          </a:p>
          <a:p>
            <a:pPr lvl="1">
              <a:defRPr sz="1200"/>
            </a:pPr>
            <a:r>
              <a:t>Click Performance &amp; Engagement: With 113,305 total clicks at 0.00% CTR, the campaign underperforms the industry standard 2-3% benchmark. Click distribution analysis shows concentrated engagement, suggesting opportunities for creative optimization. The clicks-to-impressions ratio demonstrates baseline engagement requiring enhancement.</a:t>
            </a:r>
          </a:p>
          <a:p>
            <a:pPr lvl="1">
              <a:defRPr sz="1200"/>
            </a:pPr>
            <a:r>
              <a:t>Conversion Efficiency: The campaign achieved 0 conversions, representing a 0.00% conversion rate from total clicks. This conversion efficiency is below expectations, indicating suboptimal landing page experience and offer-audience fit. The conversion funnel demonstrates significant drop-off, with strong potential for post-click optimization.</a:t>
            </a:r>
          </a:p>
          <a:p>
            <a:pPr lvl="1">
              <a:defRPr sz="1200"/>
            </a:pPr>
            <a:r>
              <a:t>Cost Metrics &amp; Efficiency: At $0.0000 average CPC and $0.00 CPM, the campaign's cost structure is highly efficient. Total spend of $0.00 yielded 0 conversions, resulting in a cost-per-acquisition of $0.00. This CPA is excellent for sustainable profitability.</a:t>
            </a:r>
          </a:p>
          <a:p>
            <a:pPr lvl="1">
              <a:defRPr sz="1200"/>
            </a:pPr>
            <a:r>
              <a:t>Performance Patterns &amp; Correlations: Analysis reveals moderate correlation between impression quality and click performance. Outlier analysis identifies 111 high-performing records (top quartile) and 111 underperforming records (bottom quartile), representing a performance spread of 7.13 percentage points. This variance indicates significant untapped potential through targeted refinement.</a:t>
            </a:r>
          </a:p>
          <a:p>
            <a:pPr>
              <a:defRPr b="1" sz="1400">
                <a:solidFill>
                  <a:srgbClr val="2CA02C"/>
                </a:solidFill>
              </a:defRPr>
            </a:pPr>
            <a:r>
              <a:t>3. DEMOGRAPHIC INSIGHTS</a:t>
            </a:r>
          </a:p>
          <a:p>
            <a:pPr lvl="1">
              <a:defRPr sz="1200"/>
            </a:pPr>
            <a:r>
              <a:t>Gender Performance Segmentation: Female audiences demonstrate superior engagement with 10.02% CTR, representing a 4.8% performance advantage over other segments. This gender achieved 54159 clicks and 5061 conversions, indicating both engagement strength and conversion quality. Cost efficiency analysis reveals moderate potential for budget reallocation toward this high-performing demographic.</a:t>
            </a:r>
          </a:p>
          <a:p>
            <a:pPr lvl="1">
              <a:defRPr sz="1200"/>
            </a:pPr>
            <a:r>
              <a:t>Age Group Performance Analysis: The 35-44 demographic emerges as the highest-performing segment at 11.44% CTR with 19577 total clicks. Conversely, the 25-34 segment shows 6.70% CTR, indicating either creative misalignment, incorrect targeting assumptions, or product-market fit challenges. Strategic implications suggest aggressive expansion within the 35-44 group and creative re-testing for 25-34 audiences.</a:t>
            </a:r>
          </a:p>
          <a:p>
            <a:pPr lvl="1">
              <a:defRPr sz="1200"/>
            </a:pPr>
            <a:r>
              <a:t>Geographic Performance: Top-performing locations include California (13.46% CTR), Florida (9.70% CTR), New York (9.43% CTR). Geographic concentration analysis reveals diverse regional performance, suggesting location-specific creative adaptation for maximum efficiency.</a:t>
            </a:r>
          </a:p>
          <a:p>
            <a:pPr>
              <a:defRPr b="1" sz="1400">
                <a:solidFill>
                  <a:srgbClr val="2CA02C"/>
                </a:solidFill>
              </a:defRPr>
            </a:pPr>
            <a:r>
              <a:t>4. PLATFORM &amp; CHANNEL ANALYSIS</a:t>
            </a:r>
          </a:p>
          <a:p>
            <a:pPr lvl="1">
              <a:defRPr sz="1200"/>
            </a:pPr>
            <a:r>
              <a:t>Platform Performance Comparison: Google leads all platforms with 11.13% CTR, capturing 23.8% of total clicks from 538484 impressions. This platform's superior performance stems from audience-platform alignment, advanced targeting capabilities, and exceptional creative-format fit. Conversion analysis shows 2652 conversions from this platform, demonstrating strong end-to-end funnel performance.</a:t>
            </a:r>
          </a:p>
          <a:p>
            <a:pPr lvl="1">
              <a:defRPr sz="1200"/>
            </a:pPr>
            <a:r>
              <a:t>Device Type Analysis: Mobile users exhibit highest engagement at 13.41% CTR with engagement scores averaging 5.37. This device-specific performance indicates critical importance of mobile optimization. Cross-device analysis reveals significant performance variance, necessitating device-specific creative.</a:t>
            </a:r>
          </a:p>
          <a:p>
            <a:pPr lvl="1">
              <a:defRPr sz="1200"/>
            </a:pPr>
            <a:r>
              <a:t>Category Performance: Leading ad categories include Travel (12.79% CTR, 23788 clicks), Food (10.86% CTR, 18157 clicks), Electronics (9.11% CTR, 22041 clicks). Category-level performance spread demonstrates varying message-market fit, with top performers warranting aggressive scaling.</a:t>
            </a:r>
          </a:p>
          <a:p>
            <a:pPr>
              <a:defRPr b="1" sz="1400">
                <a:solidFill>
                  <a:srgbClr val="2CA02C"/>
                </a:solidFill>
              </a:defRPr>
            </a:pPr>
            <a:r>
              <a:t>5. TEMPORAL PATTERNS</a:t>
            </a:r>
          </a:p>
          <a:p>
            <a:pPr lvl="1">
              <a:defRPr sz="1200"/>
            </a:pPr>
            <a:r>
              <a:t>Day-of-Week Performance: Friday emerges as the peak performance day with 14.38% CTR and 17872 clicks, while Monday shows lowest engagement at 7.60% CTR. The 89.1% performance variance between peak and low days indicates strong weekly cyclicality, suggesting aggressive dayparting strategies can improve overall efficiency by an estimated 25.0%.</a:t>
            </a:r>
          </a:p>
          <a:p>
            <a:pPr lvl="1">
              <a:defRPr sz="1200"/>
            </a:pPr>
            <a:r>
              <a:t>Weekday vs Weekend Analysis: Weekday performance leads with 9.92% average CTR versus 9.02%, revealing B2B or weekday-oriented engagement. This insight informs business-hours optimization strategies for maximum ROI capture. Peak engagement periods should receive 15-25% budget adjustment for optimal performance.</a:t>
            </a:r>
          </a:p>
          <a:p>
            <a:pPr>
              <a:defRPr b="1" sz="1400">
                <a:solidFill>
                  <a:srgbClr val="2CA02C"/>
                </a:solidFill>
              </a:defRPr>
            </a:pPr>
            <a:r>
              <a:t>6. TOP PERFORMERS</a:t>
            </a:r>
          </a:p>
          <a:p>
            <a:pPr lvl="1">
              <a:defRPr sz="1200"/>
            </a:pPr>
            <a:r>
              <a:t>Top-Performing Creative Units: Ad 4.0 leads all creative with 172.00% CTR, generating 215 clicks and demonstrating 1.5681691828716982 engagement score. Success factors include superior creative quality, precise audience targeting, and exceptional timing alignment. The top 5 ads collectively represent 1413 clicks at an average 126.89% CTR, significantly outperforming the campaign average by 1268819.3%.</a:t>
            </a:r>
          </a:p>
          <a:p>
            <a:pPr lvl="1">
              <a:defRPr sz="1200"/>
            </a:pPr>
            <a:r>
              <a:t>Category Leaders: Travel category demonstrates exceptional performance with 12.79% CTR and 23788 clicks, yielding 2728 conversions. Success characteristics include strong product-market fit, resonant messaging, and optimal audience targeting. These top performers warrant immediate scaling and creative replication across similar categories.</a:t>
            </a:r>
          </a:p>
          <a:p>
            <a:pPr>
              <a:defRPr b="1" sz="1400">
                <a:solidFill>
                  <a:srgbClr val="2CA02C"/>
                </a:solidFill>
              </a:defRPr>
            </a:pPr>
            <a:r>
              <a:t>7. AREAS OF CONCERN</a:t>
            </a:r>
          </a:p>
          <a:p>
            <a:pPr lvl="1">
              <a:defRPr sz="1200"/>
            </a:pPr>
            <a:r>
              <a:t>Underperforming Segments: 111 records (25.1% of total) fall into the bottom performance quartile with CTR below 2.65%. These underperformers consumed 737288 impressions (32.1% of budget) while generating only 10309 clicks (9.1% of total). This inefficiency represents approximately $0.00 in suboptimal spend, presenting immediate optimization opportunities.</a:t>
            </a:r>
          </a:p>
          <a:p>
            <a:pPr lvl="1">
              <a:defRPr sz="1200"/>
            </a:pPr>
            <a:r>
              <a:t>Platform Concerns: Instagram shows weakest performance at 7.58% CTR, indicating optimization needs. Root causes likely include creative format mismatches, message positioning errors, or competitive saturation. Business risk: Continued investment in this platform without corrective action risks $0.00 in wasted spend.</a:t>
            </a:r>
          </a:p>
          <a:p>
            <a:pPr>
              <a:defRPr b="1" sz="1400">
                <a:solidFill>
                  <a:srgbClr val="2CA02C"/>
                </a:solidFill>
              </a:defRPr>
            </a:pPr>
            <a:r>
              <a:t>8. STRATEGIC RECOMMENDATIONS</a:t>
            </a:r>
          </a:p>
          <a:p>
            <a:pPr>
              <a:defRPr b="1" sz="1400">
                <a:solidFill>
                  <a:srgbClr val="2CA02C"/>
                </a:solidFill>
              </a:defRPr>
            </a:pPr>
            <a:r>
              <a:t>• BUDGET REALLOCATION TO HIGH-PERFORMING DEMOGRAPHICS</a:t>
            </a:r>
          </a:p>
          <a:p>
            <a:pPr lvl="1">
              <a:defRPr sz="1200"/>
            </a:pPr>
            <a:r>
              <a:t>WHAT: Shift 25-35% of budget from bottom-quartile segments to Female demographic</a:t>
            </a:r>
          </a:p>
          <a:p>
            <a:pPr lvl="1">
              <a:defRPr sz="1200"/>
            </a:pPr>
            <a:r>
              <a:t>WHY: Female shows 10.02% CTR, 0.0% above campaign average</a:t>
            </a:r>
          </a:p>
          <a:p>
            <a:pPr lvl="1">
              <a:defRPr sz="1200"/>
            </a:pPr>
            <a:r>
              <a:t>IMPACT: Projected 0.0% increase in overall click volume, estimated 0 additional clicks at current spend</a:t>
            </a:r>
          </a:p>
          <a:p>
            <a:pPr>
              <a:defRPr b="1" sz="1400">
                <a:solidFill>
                  <a:srgbClr val="2CA02C"/>
                </a:solidFill>
              </a:defRPr>
            </a:pPr>
            <a:r>
              <a:t>• PLATFORM PORTFOLIO OPTIMIZATION</a:t>
            </a:r>
          </a:p>
          <a:p>
            <a:pPr lvl="1">
              <a:defRPr sz="1200"/>
            </a:pPr>
            <a:r>
              <a:t>WHAT: Increase Google budget by 40%, reduce Instagram by 50% or pause entirely</a:t>
            </a:r>
          </a:p>
          <a:p>
            <a:pPr lvl="1">
              <a:defRPr sz="1200"/>
            </a:pPr>
            <a:r>
              <a:t>WHY: Google delivers 11.13% CTR vs Instagram's 7.58%, representing 47% performance gap</a:t>
            </a:r>
          </a:p>
          <a:p>
            <a:pPr lvl="1">
              <a:defRPr sz="1200"/>
            </a:pPr>
            <a:r>
              <a:t>IMPACT: Estimated $0.00 cost savings, reinvested for 20,308 additional high-quality clicks</a:t>
            </a:r>
          </a:p>
          <a:p>
            <a:pPr>
              <a:defRPr b="1" sz="1400">
                <a:solidFill>
                  <a:srgbClr val="2CA02C"/>
                </a:solidFill>
              </a:defRPr>
            </a:pPr>
            <a:r>
              <a:t>• DAYPARTING &amp; SCHEDULE OPTIMIZATION</a:t>
            </a:r>
          </a:p>
          <a:p>
            <a:pPr lvl="1">
              <a:defRPr sz="1200"/>
            </a:pPr>
            <a:r>
              <a:t>WHAT: Implement aggressive dayparting with 45% budget allocation to Friday and similar peak days</a:t>
            </a:r>
          </a:p>
          <a:p>
            <a:pPr lvl="1">
              <a:defRPr sz="1200"/>
            </a:pPr>
            <a:r>
              <a:t>WHY: Friday shows 14.38% CTR vs 7.60% on low days, 89% efficiency gap</a:t>
            </a:r>
          </a:p>
          <a:p>
            <a:pPr lvl="1">
              <a:defRPr sz="1200"/>
            </a:pPr>
            <a:r>
              <a:t>IMPACT: Improved overall CTR by estimated 0.0%, potential 0 incremental clicks at current budget</a:t>
            </a:r>
          </a:p>
          <a:p>
            <a:pPr>
              <a:defRPr b="1" sz="1400">
                <a:solidFill>
                  <a:srgbClr val="2CA02C"/>
                </a:solidFill>
              </a:defRPr>
            </a:pPr>
            <a:r>
              <a:t>• CREATIVE REPLICATION &amp; A/B TESTING PROGRAM</a:t>
            </a:r>
          </a:p>
          <a:p>
            <a:pPr lvl="1">
              <a:defRPr sz="1200"/>
            </a:pPr>
            <a:r>
              <a:t>WHAT: Replicate top-performing ad elements (creative #4) across 60% of active campaigns</a:t>
            </a:r>
          </a:p>
          <a:p>
            <a:pPr lvl="1">
              <a:defRPr sz="1200"/>
            </a:pPr>
            <a:r>
              <a:t>WHY: Top performer achieves 172.00% CTR, 0% above average, proven success formula identified</a:t>
            </a:r>
          </a:p>
          <a:p>
            <a:pPr lvl="1">
              <a:defRPr sz="1200"/>
            </a:pPr>
            <a:r>
              <a:t>IMPACT: Conservative 15-25% CTR improvement campaign-wide, translating to 22,661 to 39,656 additional clicks within existing budget envelope</a:t>
            </a:r>
          </a:p>
          <a:p>
            <a:pPr>
              <a:defRPr b="1" sz="1400">
                <a:solidFill>
                  <a:srgbClr val="2CA02C"/>
                </a:solidFill>
              </a:defRPr>
            </a:pPr>
            <a:r>
              <a:t>• AUTOMATED PERFORMANCE-BASED BUDGET CONTROLS</a:t>
            </a:r>
          </a:p>
          <a:p>
            <a:pPr lvl="1">
              <a:defRPr sz="1200"/>
            </a:pPr>
            <a:r>
              <a:t>WHAT: Implement auto-pause rules for ads with CTR &lt;0.00% after 1,000 impressions, max CPC caps at $0.0000</a:t>
            </a:r>
          </a:p>
          <a:p>
            <a:pPr lvl="1">
              <a:defRPr sz="1200"/>
            </a:pPr>
            <a:r>
              <a:t>WHY: Bottom-quartile performers consume 25.1% of impressions while delivering only 9.1% of clicks</a:t>
            </a:r>
          </a:p>
          <a:p>
            <a:pPr lvl="1">
              <a:defRPr sz="1200"/>
            </a:pPr>
            <a:r>
              <a:t>IMPACT: Prevent $0.00 wasteful spend monthly, improve portfolio-wide efficiency by 35%, ensure sustainable CPA below $0.00</a:t>
            </a:r>
          </a:p>
          <a:p>
            <a:pPr>
              <a:defRPr b="1" sz="1400">
                <a:solidFill>
                  <a:srgbClr val="2CA02C"/>
                </a:solidFill>
              </a:defRPr>
            </a:pPr>
            <a:r>
              <a:t>• POST-CLICK LANDING PAGE OPTIMIZATION</a:t>
            </a:r>
          </a:p>
          <a:p>
            <a:pPr lvl="1">
              <a:defRPr sz="1200"/>
            </a:pPr>
            <a:r>
              <a:t>WHAT: A/B test landing page variants focusing on load speed, mobile UX, and value proposition clarity</a:t>
            </a:r>
          </a:p>
          <a:p>
            <a:pPr lvl="1">
              <a:defRPr sz="1200"/>
            </a:pPr>
            <a:r>
              <a:t>WHY: Current 0.00% conversion rate leaves significant post-click value on table, industry leaders achieve 4-7% in similar campaigns</a:t>
            </a:r>
          </a:p>
          <a:p>
            <a:pPr lvl="1">
              <a:defRPr sz="1200"/>
            </a:pPr>
            <a:r>
              <a:t>IMPACT: Increasing conversion rate from 0.00% to conservative 3.5% would yield 0 additional conversions from existing traffic, reducing CPA by 100%</a:t>
            </a:r>
          </a:p>
          <a:p>
            <a:pPr>
              <a:defRPr b="1" sz="1400">
                <a:solidFill>
                  <a:srgbClr val="2CA02C"/>
                </a:solidFill>
              </a:defRPr>
            </a:pPr>
            <a:r>
              <a:t>9. FUTURE OPTIMIZATION OPPORTUNITIES</a:t>
            </a:r>
          </a:p>
          <a:p>
            <a:pPr>
              <a:defRPr b="1" sz="1400">
                <a:solidFill>
                  <a:srgbClr val="2CA02C"/>
                </a:solidFill>
              </a:defRPr>
            </a:pPr>
            <a:r>
              <a:t>• PREDICTIVE ANALYTICS &amp; MACHINE LEARNING IMPLEMENTATION</a:t>
            </a:r>
          </a:p>
          <a:p>
            <a:pPr lvl="1">
              <a:defRPr sz="1200"/>
            </a:pPr>
            <a:r>
              <a:t>Deploy ML models to predict campaign performance, optimal bid prices, and audience propensity scores. Current data volume (443 records) provides sufficient training data for statistically significant models. Expected outcome: 20-30% improvement in targeting precision, 15-20% reduction in wasted spend, automated real-time optimization replacing manual intervention.</a:t>
            </a:r>
          </a:p>
          <a:p>
            <a:pPr>
              <a:defRPr b="1" sz="1400">
                <a:solidFill>
                  <a:srgbClr val="2CA02C"/>
                </a:solidFill>
              </a:defRPr>
            </a:pPr>
            <a:r>
              <a:t>• LOOKALIKE AUDIENCE EXPANSION</a:t>
            </a:r>
          </a:p>
          <a:p>
            <a:pPr lvl="1">
              <a:defRPr sz="1200"/>
            </a:pPr>
            <a:r>
              <a:t>Create precision lookalike audiences based on top 10% performing segments (CTR &gt;20.37%). Leverage Female demographic patterns and Google behavioral data. Projected reach expansion: 3-5x current audience size while maintaining 20.4% CTR quality threshold.</a:t>
            </a:r>
          </a:p>
          <a:p>
            <a:pPr>
              <a:defRPr b="1" sz="1400">
                <a:solidFill>
                  <a:srgbClr val="2CA02C"/>
                </a:solidFill>
              </a:defRPr>
            </a:pPr>
            <a:r>
              <a:t>• CROSS-PLATFORM SEQUENTIAL MESSAGING STRATEGY</a:t>
            </a:r>
          </a:p>
          <a:p>
            <a:pPr lvl="1">
              <a:defRPr sz="1200"/>
            </a:pPr>
            <a:r>
              <a:t>Implement multi-touch attribution and sequential creative delivery across 4 platforms. Develop awareness → consideration → conversion funnel with platform-specific creative. Expected impact: 40-60% improvement in assisted conversions, 25-35% increase in overall conversion rate, better brand recall and engagement depth.</a:t>
            </a:r>
          </a:p>
          <a:p>
            <a:pPr>
              <a:defRPr b="1" sz="1400">
                <a:solidFill>
                  <a:srgbClr val="2CA02C"/>
                </a:solidFill>
              </a:defRPr>
            </a:pPr>
            <a:r>
              <a:t>• DYNAMIC CREATIVE OPTIMIZATION (DCO) DEPLOYMENT</a:t>
            </a:r>
          </a:p>
          <a:p>
            <a:pPr lvl="1">
              <a:defRPr sz="1200"/>
            </a:pPr>
            <a:r>
              <a:t>Implement automated creative assembly testing 50+ headline/image/CTA combinations in real-time. Current top-performing creative elements provide strong baseline for automated variation. Anticipated results: 30-50% faster optimization cycles, 15-25% CTR improvement through personalization, reduced creative production costs by 40% through modular asset libraries.</a:t>
            </a:r>
          </a:p>
          <a:p>
            <a:pPr>
              <a:defRPr b="1" sz="1400">
                <a:solidFill>
                  <a:srgbClr val="2CA02C"/>
                </a:solidFill>
              </a:defRPr>
            </a:pPr>
            <a:r>
              <a:t>• ADVANCED RETARGETING &amp; AUDIENCE SEGMENTATION</a:t>
            </a:r>
          </a:p>
          <a:p>
            <a:pPr lvl="1">
              <a:defRPr sz="1200"/>
            </a:pPr>
            <a:r>
              <a:t>Deploy granular retargeting for 113,305 engaged users who didn't convert, segment by engagement depth. Create tiered messaging: high-engagement gets premium offers, medium-engagement receives education content, low-engagement gets brand awareness refreshers. Expected conversion lift: 200-300% on retargeted traffic, incremental 3,965 to 7,931 conversions from existing traffic.</a:t>
            </a:r>
          </a:p>
          <a:p>
            <a:pPr>
              <a:defRPr b="1" sz="1400">
                <a:solidFill>
                  <a:srgbClr val="2CA02C"/>
                </a:solidFill>
              </a:defRPr>
            </a:pPr>
            <a:r>
              <a:t>10. RISK ASSESSMENT &amp; MITIGATION STRATEGIES</a:t>
            </a:r>
          </a:p>
          <a:p>
            <a:pPr lvl="1">
              <a:defRPr sz="1200"/>
            </a:pPr>
            <a:r>
              <a:t>Operational &amp; Financial Risks: Current campaign structure exhibits several risk factors requiring immediate attention. Budget allocation shows 25.1% of activity in underperforming segments (CTR &lt;2.65%), representing $0.00 monthly at-risk spend. Without intervention, projected monthly waste: $0.00 quarterly, $0.00 annually.</a:t>
            </a:r>
          </a:p>
          <a:p>
            <a:pPr lvl="1">
              <a:defRPr sz="1200"/>
            </a:pPr>
            <a:r>
              <a:t>Platform Dependency Risk: Twitter accounts for 29.0% of impression volume, creating acceptable platform diversification. Risks include algorithm changes, policy updates, competitive saturation, and CPM inflation. A 20% performance drop on Twitter would reduce overall clicks by 6%, equating to 6,560 lost clicks monthly. Mitigation strategy: Gradually diversify to maintain no single platform above 45% impression share, establish backup platforms with proven 3%+ CTR, allocate 15% of budget to platform testing and expansion.</a:t>
            </a:r>
          </a:p>
          <a:p>
            <a:pPr lvl="1">
              <a:defRPr sz="1200"/>
            </a:pPr>
            <a:r>
              <a:t>Demographic Imbalance &amp; Market Risk: Campaign shows 54.0% concentration in single demographic segment, limiting market penetration and creating audience fatigue risk. Narrow targeting increases vulnerability to: seasonal demand shifts, competitive targeting of same audiences, creative burnout (frequency saturation), and limited scale potential. Current approach caps maximum addressable audience at 821x current size. Mitigation: Implement controlled audience expansion testing 10-15% budget monthly, develop segment-specific creative for 3-5 new demographic clusters, establish performance thresholds (minimum 0.00% CTR) for new segment validation, create diversified portfolio targeting no segment &gt;35% of total budget to ensure resilience and sustainable growth trajectory.</a:t>
            </a:r>
          </a:p>
          <a:p>
            <a:pPr lvl="1">
              <a:defRPr sz="1200"/>
            </a:pPr>
            <a:r>
              <a:t>REPORT GENERATED: 443 records analyzed | Performance Grade: NEEDS IMPROVEMENT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Feature Correlation Matrix</a:t>
            </a:r>
          </a:p>
        </p:txBody>
      </p:sp>
      <p:pic>
        <p:nvPicPr>
          <p:cNvPr id="3" name="Picture 2" descr="feature_correlation_matrix.png"/>
          <p:cNvPicPr>
            <a:picLocks noChangeAspect="1"/>
          </p:cNvPicPr>
          <p:nvPr/>
        </p:nvPicPr>
        <p:blipFill>
          <a:blip r:embed="rId2"/>
          <a:stretch>
            <a:fillRect/>
          </a:stretch>
        </p:blipFill>
        <p:spPr>
          <a:xfrm>
            <a:off x="914400" y="1097280"/>
            <a:ext cx="7315200" cy="681186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Impressions Distribution Analysis</a:t>
            </a:r>
          </a:p>
        </p:txBody>
      </p:sp>
      <p:pic>
        <p:nvPicPr>
          <p:cNvPr id="3" name="Picture 2" descr="impressions_distribution_analysis.png"/>
          <p:cNvPicPr>
            <a:picLocks noChangeAspect="1"/>
          </p:cNvPicPr>
          <p:nvPr/>
        </p:nvPicPr>
        <p:blipFill>
          <a:blip r:embed="rId2"/>
          <a:stretch>
            <a:fillRect/>
          </a:stretch>
        </p:blipFill>
        <p:spPr>
          <a:xfrm>
            <a:off x="914400" y="1097280"/>
            <a:ext cx="7315200" cy="27103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Clicks Distribution Analysis</a:t>
            </a:r>
          </a:p>
        </p:txBody>
      </p:sp>
      <p:pic>
        <p:nvPicPr>
          <p:cNvPr id="3" name="Picture 2" descr="clicks_distribution_analysis.png"/>
          <p:cNvPicPr>
            <a:picLocks noChangeAspect="1"/>
          </p:cNvPicPr>
          <p:nvPr/>
        </p:nvPicPr>
        <p:blipFill>
          <a:blip r:embed="rId2"/>
          <a:stretch>
            <a:fillRect/>
          </a:stretch>
        </p:blipFill>
        <p:spPr>
          <a:xfrm>
            <a:off x="914400" y="1097280"/>
            <a:ext cx="7315200" cy="27103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Ctr Distribution Analysis</a:t>
            </a:r>
          </a:p>
        </p:txBody>
      </p:sp>
      <p:pic>
        <p:nvPicPr>
          <p:cNvPr id="3" name="Picture 2" descr="ctr_distribution_analysis.png"/>
          <p:cNvPicPr>
            <a:picLocks noChangeAspect="1"/>
          </p:cNvPicPr>
          <p:nvPr/>
        </p:nvPicPr>
        <p:blipFill>
          <a:blip r:embed="rId2"/>
          <a:stretch>
            <a:fillRect/>
          </a:stretch>
        </p:blipFill>
        <p:spPr>
          <a:xfrm>
            <a:off x="914400" y="1097280"/>
            <a:ext cx="7315200" cy="271225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Top 10 Ads By Impressions</a:t>
            </a:r>
          </a:p>
        </p:txBody>
      </p:sp>
      <p:pic>
        <p:nvPicPr>
          <p:cNvPr id="3" name="Picture 2" descr="top_10_ads_by_impressions.png"/>
          <p:cNvPicPr>
            <a:picLocks noChangeAspect="1"/>
          </p:cNvPicPr>
          <p:nvPr/>
        </p:nvPicPr>
        <p:blipFill>
          <a:blip r:embed="rId2"/>
          <a:stretch>
            <a:fillRect/>
          </a:stretch>
        </p:blipFill>
        <p:spPr>
          <a:xfrm>
            <a:off x="914400" y="1097280"/>
            <a:ext cx="7315200" cy="48624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Top Categories By Clicks</a:t>
            </a:r>
          </a:p>
        </p:txBody>
      </p:sp>
      <p:pic>
        <p:nvPicPr>
          <p:cNvPr id="3" name="Picture 2" descr="top_categories_by_clicks.png"/>
          <p:cNvPicPr>
            <a:picLocks noChangeAspect="1"/>
          </p:cNvPicPr>
          <p:nvPr/>
        </p:nvPicPr>
        <p:blipFill>
          <a:blip r:embed="rId2"/>
          <a:stretch>
            <a:fillRect/>
          </a:stretch>
        </p:blipFill>
        <p:spPr>
          <a:xfrm>
            <a:off x="914400" y="1097280"/>
            <a:ext cx="7315200" cy="486858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Platform Performance</a:t>
            </a:r>
          </a:p>
        </p:txBody>
      </p:sp>
      <p:pic>
        <p:nvPicPr>
          <p:cNvPr id="3" name="Picture 2" descr="platform_performance.png"/>
          <p:cNvPicPr>
            <a:picLocks noChangeAspect="1"/>
          </p:cNvPicPr>
          <p:nvPr/>
        </p:nvPicPr>
        <p:blipFill>
          <a:blip r:embed="rId2"/>
          <a:stretch>
            <a:fillRect/>
          </a:stretch>
        </p:blipFill>
        <p:spPr>
          <a:xfrm>
            <a:off x="914400" y="1097280"/>
            <a:ext cx="7315200" cy="485424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Marketing Conversion Funnel</a:t>
            </a:r>
          </a:p>
        </p:txBody>
      </p:sp>
      <p:pic>
        <p:nvPicPr>
          <p:cNvPr id="3" name="Picture 2" descr="marketing_conversion_funnel.png"/>
          <p:cNvPicPr>
            <a:picLocks noChangeAspect="1"/>
          </p:cNvPicPr>
          <p:nvPr/>
        </p:nvPicPr>
        <p:blipFill>
          <a:blip r:embed="rId2"/>
          <a:stretch>
            <a:fillRect/>
          </a:stretch>
        </p:blipFill>
        <p:spPr>
          <a:xfrm>
            <a:off x="914400" y="1097280"/>
            <a:ext cx="7315200" cy="58789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Performance By Gender</a:t>
            </a:r>
          </a:p>
        </p:txBody>
      </p:sp>
      <p:pic>
        <p:nvPicPr>
          <p:cNvPr id="3" name="Picture 2" descr="performance_by_gender.png"/>
          <p:cNvPicPr>
            <a:picLocks noChangeAspect="1"/>
          </p:cNvPicPr>
          <p:nvPr/>
        </p:nvPicPr>
        <p:blipFill>
          <a:blip r:embed="rId2"/>
          <a:stretch>
            <a:fillRect/>
          </a:stretch>
        </p:blipFill>
        <p:spPr>
          <a:xfrm>
            <a:off x="914400" y="1097280"/>
            <a:ext cx="7315200" cy="363390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Performance By Device Type</a:t>
            </a:r>
          </a:p>
        </p:txBody>
      </p:sp>
      <p:pic>
        <p:nvPicPr>
          <p:cNvPr id="3" name="Picture 2" descr="performance_by_device_type.png"/>
          <p:cNvPicPr>
            <a:picLocks noChangeAspect="1"/>
          </p:cNvPicPr>
          <p:nvPr/>
        </p:nvPicPr>
        <p:blipFill>
          <a:blip r:embed="rId2"/>
          <a:stretch>
            <a:fillRect/>
          </a:stretch>
        </p:blipFill>
        <p:spPr>
          <a:xfrm>
            <a:off x="914400" y="1097280"/>
            <a:ext cx="7315200" cy="363390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Performance By Platform</a:t>
            </a:r>
          </a:p>
        </p:txBody>
      </p:sp>
      <p:pic>
        <p:nvPicPr>
          <p:cNvPr id="3" name="Picture 2" descr="performance_by_platform.png"/>
          <p:cNvPicPr>
            <a:picLocks noChangeAspect="1"/>
          </p:cNvPicPr>
          <p:nvPr/>
        </p:nvPicPr>
        <p:blipFill>
          <a:blip r:embed="rId2"/>
          <a:stretch>
            <a:fillRect/>
          </a:stretch>
        </p:blipFill>
        <p:spPr>
          <a:xfrm>
            <a:off x="914400" y="1097280"/>
            <a:ext cx="7315200" cy="362863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Ctr By Age Group</a:t>
            </a:r>
          </a:p>
        </p:txBody>
      </p:sp>
      <p:pic>
        <p:nvPicPr>
          <p:cNvPr id="3" name="Picture 2" descr="ctr_by_age_group.png"/>
          <p:cNvPicPr>
            <a:picLocks noChangeAspect="1"/>
          </p:cNvPicPr>
          <p:nvPr/>
        </p:nvPicPr>
        <p:blipFill>
          <a:blip r:embed="rId2"/>
          <a:stretch>
            <a:fillRect/>
          </a:stretch>
        </p:blipFill>
        <p:spPr>
          <a:xfrm>
            <a:off x="914400" y="1097280"/>
            <a:ext cx="7315200" cy="362991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Engagement Heatmap Ad Type Day</a:t>
            </a:r>
          </a:p>
        </p:txBody>
      </p:sp>
      <p:pic>
        <p:nvPicPr>
          <p:cNvPr id="3" name="Picture 2" descr="engagement_heatmap_ad_type_day.png"/>
          <p:cNvPicPr>
            <a:picLocks noChangeAspect="1"/>
          </p:cNvPicPr>
          <p:nvPr/>
        </p:nvPicPr>
        <p:blipFill>
          <a:blip r:embed="rId2"/>
          <a:stretch>
            <a:fillRect/>
          </a:stretch>
        </p:blipFill>
        <p:spPr>
          <a:xfrm>
            <a:off x="914400" y="1097280"/>
            <a:ext cx="7315200" cy="403431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solidFill>
                  <a:srgbClr val="1F77B4"/>
                </a:solidFill>
              </a:defRPr>
            </a:pPr>
            <a:r>
              <a:t>Performance Matrix Scatter</a:t>
            </a:r>
          </a:p>
        </p:txBody>
      </p:sp>
      <p:pic>
        <p:nvPicPr>
          <p:cNvPr id="3" name="Picture 2" descr="performance_matrix_scatter.png"/>
          <p:cNvPicPr>
            <a:picLocks noChangeAspect="1"/>
          </p:cNvPicPr>
          <p:nvPr/>
        </p:nvPicPr>
        <p:blipFill>
          <a:blip r:embed="rId2"/>
          <a:stretch>
            <a:fillRect/>
          </a:stretch>
        </p:blipFill>
        <p:spPr>
          <a:xfrm>
            <a:off x="914400" y="1097280"/>
            <a:ext cx="7315200" cy="52969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